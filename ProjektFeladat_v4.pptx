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0" r:id="rId2"/>
    <p:sldId id="259" r:id="rId3"/>
    <p:sldId id="261" r:id="rId4"/>
    <p:sldId id="263" r:id="rId5"/>
    <p:sldId id="265" r:id="rId6"/>
    <p:sldId id="282" r:id="rId7"/>
    <p:sldId id="268" r:id="rId8"/>
    <p:sldId id="270" r:id="rId9"/>
    <p:sldId id="272" r:id="rId10"/>
    <p:sldId id="283" r:id="rId11"/>
    <p:sldId id="273" r:id="rId12"/>
    <p:sldId id="274" r:id="rId13"/>
    <p:sldId id="281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7B721-6FEA-4BE6-BD81-C78BCF315876}" v="1" dt="2026-04-29T20:02:59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DFAFB-C2E3-4D15-A1BD-CADCF41A86A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BCD55-9C9D-4CBB-B046-17E7FFCBD0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85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DBCD55-9C9D-4CBB-B046-17E7FFCBD0B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09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15DE-76FD-0567-9A37-C111D6667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34E09-F905-36CB-593E-E1E7E2809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4D9AA-84C2-B91B-BD3B-81F01111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CBF19-AF57-5E7C-29E2-3F3A359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D1A3-0987-0D4B-4CE4-94B4669B6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32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0E01E-37EB-BD1B-4529-936B52E19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9792B-5974-2AD2-EB22-640329AC6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3950D-EF20-F4BF-CB77-9FBD3130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65E5-3160-D736-44BB-837CF685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97303-E40C-E04B-B451-5D689D8EF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515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778B-982E-4949-84D4-1F9B8B8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C8BE-D592-F92C-4ED1-A60604262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A41C9-9305-E7FE-71D1-43619290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E0398-ADCD-A7E4-669F-C9A68A58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62E45-952A-96A4-F60E-36695AD6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16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D604-F8CA-10CB-84A4-9297370A4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2E26-9C11-EA4E-480A-858CE9536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0E152-7790-D4C0-693D-C7F626E6D6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BF189-1CC7-9B88-1FA2-322C5DEB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B089F-CBB4-45F7-4435-DA693B3D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FDCC2-477A-61F0-5926-0BF260F9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38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D939-5842-15DA-10C1-AA479E846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075ED-FAFB-DF8F-2103-4F13254D6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7C77D-A108-7B86-5CAC-1DFCC5DDD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5AFB2-19AE-EF57-6DB1-980902D3A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921CA-36E3-C6E7-D8C3-C4ABE9554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9EAD4-F4D4-ADB6-D0B7-FE9313B7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20418-38E1-A6F1-A775-D58CB0F44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DD161-2C52-8235-F2B6-CE4442787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70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27D5-3474-3E36-7896-FAE6AC6C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43D0F-0821-51E4-B5F8-05D432F5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0F7EF-03D8-8B42-1F10-BAF9758A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A0BFA-8DC4-1801-A803-AE88F8F2F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85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226C54-67BD-3BD8-0C7E-3F13B489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05FA87-3352-401A-94DD-303A872C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45381-9CD8-943D-EF61-85F0E8754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03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E61B-307B-BADF-48E3-E803A9DD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F150-70B0-03F2-F2B6-E450BC3B6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14045-20DE-9078-2338-7D43ED18B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9E062-9F59-66F0-AB51-C40F107F0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9069F-E99D-3473-26CA-3778EEC1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DBFFE-09F9-558E-20CC-C0817803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80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7219-151B-6358-02BB-19E29E494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37AC2-E7B6-07D2-0835-19DCF56079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D606A-CAD1-6B3F-D964-28AEE0441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CB0E8B-EAC8-AF50-47B9-5D8A3934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6B5A0-E828-C01B-B61B-5F2B4A9D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2916A0-8BDB-ED1C-DE2A-6FC6E6A5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47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E793-509E-2F14-9A15-89DBD314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DB046-B143-B7AB-9F0F-E3BF377D8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AAA73-7CD3-2D55-9D7F-C2423B81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86D9-5218-4AFD-7B0A-796E9771E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47C5D-039A-B43F-011B-C0F60A07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26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0E422-3582-2991-B1ED-56829DBBA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EDC3D-D256-3AE2-763A-924B50B11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FD1F5-0A8A-848A-8383-802F613D8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D7372-28E4-6CB2-3C7E-52E56DA39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42C50-8EC7-5A17-991D-7C34CF43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56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620"/>
            </a:gs>
            <a:gs pos="100000">
              <a:srgbClr val="1A233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64138-5577-7A48-7FEC-63A46377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3090C-A80B-8E78-4562-331281C0A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51E42-C9A1-CA53-2D7A-3A540199C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7628F-8987-4FA9-8355-26B52AFDECDB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721-724D-AC4F-543D-DD250E368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C9D7-E609-D777-470A-DBD575CAE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E829E-5DEE-4B6D-8631-1747E0708F10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135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8ECF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8ECF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8ECF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8ECF4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9D1E0"/>
          </a:solidFill>
        </a:defRPr>
      </a:defPPr>
      <a:lvl1pPr marL="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9D1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6271F70-698B-8131-243A-A853C1D3C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2082008"/>
            <a:ext cx="4826000" cy="2693982"/>
          </a:xfrm>
          <a:prstGeom prst="rect">
            <a:avLst/>
          </a:prstGeom>
          <a:effectLst>
            <a:softEdge rad="190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E21109-2716-A110-6B5C-FA0CF0EF5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397000"/>
            <a:ext cx="6096000" cy="2032000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hu-HU" sz="3600" b="1" dirty="0">
                <a:solidFill>
                  <a:srgbClr val="FFFFFF"/>
                </a:solidFill>
              </a:rPr>
              <a:t>Robotkar tanítása mély megerősítéses tanulással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DF18A-1718-0B73-3F04-04FB9D3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3556000"/>
            <a:ext cx="6096000" cy="635000"/>
          </a:xfrm>
        </p:spPr>
        <p:txBody>
          <a:bodyPr/>
          <a:lstStyle/>
          <a:p>
            <a:r>
              <a:rPr lang="en-GB" dirty="0"/>
              <a:t>Unity ML-Agents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8209A-2C9A-4144-A11A-EE1D3DAAC407}"/>
              </a:ext>
            </a:extLst>
          </p:cNvPr>
          <p:cNvSpPr txBox="1"/>
          <p:nvPr/>
        </p:nvSpPr>
        <p:spPr>
          <a:xfrm>
            <a:off x="635000" y="4572000"/>
            <a:ext cx="609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>
                <a:solidFill>
                  <a:srgbClr val="C9D1E0"/>
                </a:solidFill>
                <a:latin typeface="Segoe UI"/>
                <a:cs typeface="Segoe UI"/>
              </a:rPr>
              <a:t>Készítette: Juhász Dávid
Tantárgy: Informatikai projektfeladat</a:t>
            </a:r>
          </a:p>
        </p:txBody>
      </p:sp>
    </p:spTree>
    <p:extLst>
      <p:ext uri="{BB962C8B-B14F-4D97-AF65-F5344CB8AC3E}">
        <p14:creationId xmlns:p14="http://schemas.microsoft.com/office/powerpoint/2010/main" val="77860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0CE7-3DBF-6E3B-558D-F40E3FC9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688" y="351678"/>
            <a:ext cx="10515600" cy="1325563"/>
          </a:xfrm>
        </p:spPr>
        <p:txBody>
          <a:bodyPr/>
          <a:lstStyle/>
          <a:p>
            <a:r>
              <a:rPr lang="en-GB"/>
              <a:t>A projekt feladata</a:t>
            </a:r>
          </a:p>
        </p:txBody>
      </p:sp>
      <p:sp>
        <p:nvSpPr>
          <p:cNvPr id="3" name="BulletBox">
            <a:extLst>
              <a:ext uri="{FF2B5EF4-FFF2-40B4-BE49-F238E27FC236}">
                <a16:creationId xmlns:a16="http://schemas.microsoft.com/office/drawing/2014/main" id="{A99F311A-128D-4495-8C4E-17F4709FE2CB}"/>
              </a:ext>
            </a:extLst>
          </p:cNvPr>
          <p:cNvSpPr txBox="1"/>
          <p:nvPr/>
        </p:nvSpPr>
        <p:spPr>
          <a:xfrm>
            <a:off x="635000" y="2032000"/>
            <a:ext cx="6096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3000"/>
              </a:lnSpc>
              <a:spcBef>
                <a:spcPts val="6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2000" dirty="0">
                <a:solidFill>
                  <a:srgbClr val="E8ECF4"/>
                </a:solidFill>
              </a:rPr>
              <a:t>6 szabadságfokú robotkar</a:t>
            </a:r>
          </a:p>
          <a:p>
            <a:pPr marL="285750" indent="-285750">
              <a:lnSpc>
                <a:spcPts val="3000"/>
              </a:lnSpc>
              <a:spcBef>
                <a:spcPts val="6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2000" dirty="0">
                <a:solidFill>
                  <a:srgbClr val="E8ECF4"/>
                </a:solidFill>
              </a:rPr>
              <a:t>Cél elérése a legrövidebb idő alatt</a:t>
            </a:r>
          </a:p>
          <a:p>
            <a:pPr marL="285750" indent="-285750">
              <a:lnSpc>
                <a:spcPts val="3000"/>
              </a:lnSpc>
              <a:spcBef>
                <a:spcPts val="6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2000" dirty="0">
                <a:solidFill>
                  <a:srgbClr val="E8ECF4"/>
                </a:solidFill>
              </a:rPr>
              <a:t>Statikus és dinamikus akadályok kerülése</a:t>
            </a:r>
          </a:p>
          <a:p>
            <a:pPr marL="285750" indent="-285750">
              <a:lnSpc>
                <a:spcPts val="3000"/>
              </a:lnSpc>
              <a:spcBef>
                <a:spcPts val="6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2000" dirty="0">
                <a:solidFill>
                  <a:srgbClr val="E8ECF4"/>
                </a:solidFill>
              </a:rPr>
              <a:t>PPO algoritmus, Unity ML-Agents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40B969-1258-A74B-8F44-33779F107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2" t="12737" r="29109" b="29652"/>
          <a:stretch>
            <a:fillRect/>
          </a:stretch>
        </p:blipFill>
        <p:spPr>
          <a:xfrm>
            <a:off x="6901180" y="1968500"/>
            <a:ext cx="478282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8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40C50-D202-36DC-C1EA-0A6E730C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Források</a:t>
            </a:r>
            <a:endParaRPr lang="en-GB" dirty="0"/>
          </a:p>
        </p:txBody>
      </p:sp>
      <p:sp>
        <p:nvSpPr>
          <p:cNvPr id="3" name="LeftHeader">
            <a:extLst>
              <a:ext uri="{FF2B5EF4-FFF2-40B4-BE49-F238E27FC236}">
                <a16:creationId xmlns:a16="http://schemas.microsoft.com/office/drawing/2014/main" id="{B393BCA9-0BAA-408C-B0C3-4008DC2C97A7}"/>
              </a:ext>
            </a:extLst>
          </p:cNvPr>
          <p:cNvSpPr txBox="1"/>
          <p:nvPr/>
        </p:nvSpPr>
        <p:spPr>
          <a:xfrm>
            <a:off x="635000" y="1841500"/>
            <a:ext cx="533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00D4FF"/>
                </a:solidFill>
                <a:latin typeface="Segoe UI"/>
                <a:cs typeface="Segoe UI"/>
              </a:rPr>
              <a:t>Turtle Agent (CodeMonkey, 6 rész)</a:t>
            </a:r>
          </a:p>
        </p:txBody>
      </p:sp>
      <p:sp>
        <p:nvSpPr>
          <p:cNvPr id="4" name="LeftBullets">
            <a:extLst>
              <a:ext uri="{FF2B5EF4-FFF2-40B4-BE49-F238E27FC236}">
                <a16:creationId xmlns:a16="http://schemas.microsoft.com/office/drawing/2014/main" id="{D0AAA0B8-02C5-41DD-A4FE-1BB7230C2420}"/>
              </a:ext>
            </a:extLst>
          </p:cNvPr>
          <p:cNvSpPr txBox="1"/>
          <p:nvPr/>
        </p:nvSpPr>
        <p:spPr>
          <a:xfrm>
            <a:off x="635000" y="2413000"/>
            <a:ext cx="5334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ML-Agents alapjai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Agent életciklus</a:t>
            </a:r>
          </a:p>
        </p:txBody>
      </p:sp>
      <p:sp>
        <p:nvSpPr>
          <p:cNvPr id="6" name="RightHeader">
            <a:extLst>
              <a:ext uri="{FF2B5EF4-FFF2-40B4-BE49-F238E27FC236}">
                <a16:creationId xmlns:a16="http://schemas.microsoft.com/office/drawing/2014/main" id="{E6FEF10A-4738-4013-B5DE-E031C6C34A87}"/>
              </a:ext>
            </a:extLst>
          </p:cNvPr>
          <p:cNvSpPr txBox="1"/>
          <p:nvPr/>
        </p:nvSpPr>
        <p:spPr>
          <a:xfrm>
            <a:off x="6350000" y="1841500"/>
            <a:ext cx="533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 dirty="0" err="1">
                <a:solidFill>
                  <a:srgbClr val="7C3AED"/>
                </a:solidFill>
                <a:latin typeface="Segoe UI"/>
                <a:cs typeface="Segoe UI"/>
              </a:rPr>
              <a:t>RobotReacher</a:t>
            </a:r>
            <a:r>
              <a:rPr lang="en-GB" b="1" dirty="0">
                <a:solidFill>
                  <a:srgbClr val="7C3AED"/>
                </a:solidFill>
                <a:latin typeface="Segoe UI"/>
                <a:cs typeface="Segoe UI"/>
              </a:rPr>
              <a:t> (5 </a:t>
            </a:r>
            <a:r>
              <a:rPr lang="en-GB" b="1" dirty="0" err="1">
                <a:solidFill>
                  <a:srgbClr val="7C3AED"/>
                </a:solidFill>
                <a:latin typeface="Segoe UI"/>
                <a:cs typeface="Segoe UI"/>
              </a:rPr>
              <a:t>rész</a:t>
            </a:r>
            <a:r>
              <a:rPr lang="en-GB" b="1" dirty="0">
                <a:solidFill>
                  <a:srgbClr val="7C3AED"/>
                </a:solidFill>
                <a:latin typeface="Segoe UI"/>
                <a:cs typeface="Segoe UI"/>
              </a:rPr>
              <a:t>)</a:t>
            </a:r>
          </a:p>
        </p:txBody>
      </p:sp>
      <p:sp>
        <p:nvSpPr>
          <p:cNvPr id="7" name="RightBullets">
            <a:extLst>
              <a:ext uri="{FF2B5EF4-FFF2-40B4-BE49-F238E27FC236}">
                <a16:creationId xmlns:a16="http://schemas.microsoft.com/office/drawing/2014/main" id="{D964D5C4-F0B5-4203-906D-A01C7C8DAB4F}"/>
              </a:ext>
            </a:extLst>
          </p:cNvPr>
          <p:cNvSpPr txBox="1"/>
          <p:nvPr/>
        </p:nvSpPr>
        <p:spPr>
          <a:xfrm>
            <a:off x="6350000" y="2413000"/>
            <a:ext cx="5334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6 ízületes kar fizikája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Folyamatos akciótér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31F94D-EC79-4138-8B40-0C187009A6C1}"/>
              </a:ext>
            </a:extLst>
          </p:cNvPr>
          <p:cNvSpPr/>
          <p:nvPr/>
        </p:nvSpPr>
        <p:spPr>
          <a:xfrm>
            <a:off x="6096000" y="1841500"/>
            <a:ext cx="25400" cy="4445000"/>
          </a:xfrm>
          <a:prstGeom prst="rect">
            <a:avLst/>
          </a:prstGeom>
          <a:solidFill>
            <a:srgbClr val="2A35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F84DCD-836B-6EF9-35B4-68B32EDED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3937000"/>
            <a:ext cx="5334000" cy="2158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B7C560-1AB6-F213-194A-2BD97F597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937000"/>
            <a:ext cx="5334000" cy="213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BCCE-6F43-A15E-D33C-4E877FEF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 környezet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C39B2C1F-2491-41C5-A599-E5F39E513BE6}"/>
              </a:ext>
            </a:extLst>
          </p:cNvPr>
          <p:cNvSpPr txBox="1"/>
          <p:nvPr/>
        </p:nvSpPr>
        <p:spPr>
          <a:xfrm>
            <a:off x="635000" y="2032000"/>
            <a:ext cx="6096000" cy="21066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800"/>
              </a:lnSpc>
              <a:spcBef>
                <a:spcPts val="5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800" dirty="0">
                <a:solidFill>
                  <a:srgbClr val="E8ECF4"/>
                </a:solidFill>
              </a:rPr>
              <a:t>Staubli RX160 modell (egyszerűsített)</a:t>
            </a:r>
          </a:p>
          <a:p>
            <a:pPr marL="285750" indent="-285750">
              <a:lnSpc>
                <a:spcPts val="2800"/>
              </a:lnSpc>
              <a:spcBef>
                <a:spcPts val="5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800" dirty="0">
                <a:solidFill>
                  <a:srgbClr val="E8ECF4"/>
                </a:solidFill>
              </a:rPr>
              <a:t>6 ízület + EndEffector</a:t>
            </a:r>
          </a:p>
          <a:p>
            <a:pPr marL="285750" indent="-285750">
              <a:lnSpc>
                <a:spcPts val="2800"/>
              </a:lnSpc>
              <a:spcBef>
                <a:spcPts val="5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800" dirty="0">
                <a:solidFill>
                  <a:srgbClr val="E8ECF4"/>
                </a:solidFill>
              </a:rPr>
              <a:t>Falak (statikus akadály)</a:t>
            </a:r>
          </a:p>
          <a:p>
            <a:pPr marL="285750" indent="-285750">
              <a:lnSpc>
                <a:spcPts val="2800"/>
              </a:lnSpc>
              <a:spcBef>
                <a:spcPts val="5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800" dirty="0">
                <a:solidFill>
                  <a:srgbClr val="E8ECF4"/>
                </a:solidFill>
              </a:rPr>
              <a:t>Forgó </a:t>
            </a:r>
            <a:r>
              <a:rPr lang="en-GB" sz="1800" dirty="0">
                <a:solidFill>
                  <a:srgbClr val="E8ECF4"/>
                </a:solidFill>
              </a:rPr>
              <a:t>r</a:t>
            </a:r>
            <a:r>
              <a:rPr lang="hu-HU" sz="1800" dirty="0" err="1">
                <a:solidFill>
                  <a:srgbClr val="E8ECF4"/>
                </a:solidFill>
              </a:rPr>
              <a:t>úd</a:t>
            </a:r>
            <a:r>
              <a:rPr lang="hu-HU" sz="1800" dirty="0">
                <a:solidFill>
                  <a:srgbClr val="E8ECF4"/>
                </a:solidFill>
              </a:rPr>
              <a:t> (dinamikus akadály)</a:t>
            </a:r>
          </a:p>
          <a:p>
            <a:pPr marL="285750" indent="-285750">
              <a:lnSpc>
                <a:spcPts val="2800"/>
              </a:lnSpc>
              <a:spcBef>
                <a:spcPts val="5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800" dirty="0">
                <a:solidFill>
                  <a:srgbClr val="E8ECF4"/>
                </a:solidFill>
              </a:rPr>
              <a:t>Véletlen pozícióban megjelenő </a:t>
            </a:r>
            <a:r>
              <a:rPr lang="en-GB" sz="1800" dirty="0" err="1">
                <a:solidFill>
                  <a:srgbClr val="E8ECF4"/>
                </a:solidFill>
              </a:rPr>
              <a:t>gömb</a:t>
            </a:r>
            <a:endParaRPr lang="hu-HU" sz="1800" dirty="0">
              <a:solidFill>
                <a:srgbClr val="E8ECF4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12490F-E954-541B-DFAC-3673C8F95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56" t="5346" r="11777" b="20270"/>
          <a:stretch>
            <a:fillRect/>
          </a:stretch>
        </p:blipFill>
        <p:spPr>
          <a:xfrm>
            <a:off x="6866483" y="1905000"/>
            <a:ext cx="481751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07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BD784-EA62-C3AF-264F-19125FB9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Párhuzamos tanítás — gyorsabb tanulás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59E04E6D-DE16-45CE-8004-E0A55DC291B4}"/>
              </a:ext>
            </a:extLst>
          </p:cNvPr>
          <p:cNvSpPr txBox="1"/>
          <p:nvPr/>
        </p:nvSpPr>
        <p:spPr>
          <a:xfrm>
            <a:off x="635000" y="1841500"/>
            <a:ext cx="11049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200"/>
              </a:lnSpc>
              <a:spcBef>
                <a:spcPts val="2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Egy TrainingArea prefab → sokszorozva</a:t>
            </a:r>
          </a:p>
          <a:p>
            <a:pPr marL="285750" indent="-285750">
              <a:lnSpc>
                <a:spcPts val="2200"/>
              </a:lnSpc>
              <a:spcBef>
                <a:spcPts val="2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Több ágens egyszerre gyűjt tapasztalatot</a:t>
            </a:r>
          </a:p>
          <a:p>
            <a:pPr marL="285750" indent="-285750">
              <a:lnSpc>
                <a:spcPts val="2200"/>
              </a:lnSpc>
              <a:spcBef>
                <a:spcPts val="2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Közös policy → gyorsabb konvergencia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E051B-1B86-F4DA-560D-81275A492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7" t="4224" r="10628" b="19589"/>
          <a:stretch>
            <a:fillRect/>
          </a:stretch>
        </p:blipFill>
        <p:spPr>
          <a:xfrm>
            <a:off x="3423666" y="3175000"/>
            <a:ext cx="5344668" cy="35560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10852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B4F1-0B63-D2C2-5BDC-9BBFC814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Mit lát és mit tesz az ágens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95CF-5CCD-4779-9F60-67F305601D50}"/>
              </a:ext>
            </a:extLst>
          </p:cNvPr>
          <p:cNvSpPr txBox="1"/>
          <p:nvPr/>
        </p:nvSpPr>
        <p:spPr>
          <a:xfrm>
            <a:off x="635000" y="1841500"/>
            <a:ext cx="3683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00D4FF"/>
                </a:solidFill>
                <a:latin typeface="Segoe UI"/>
                <a:cs typeface="Segoe UI"/>
              </a:rPr>
              <a:t>Megfigyelések — 88 érték</a:t>
            </a: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C2C5C5EA-7942-4E6F-B4E2-07BA109A5086}"/>
              </a:ext>
            </a:extLst>
          </p:cNvPr>
          <p:cNvSpPr txBox="1"/>
          <p:nvPr/>
        </p:nvSpPr>
        <p:spPr>
          <a:xfrm>
            <a:off x="635000" y="2349500"/>
            <a:ext cx="3683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2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500" dirty="0">
                <a:solidFill>
                  <a:srgbClr val="E8ECF4"/>
                </a:solidFill>
              </a:rPr>
              <a:t>Minden ízület: pozíció, rotáció, sebességek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500" dirty="0">
                <a:solidFill>
                  <a:srgbClr val="E8ECF4"/>
                </a:solidFill>
              </a:rPr>
              <a:t>Kéz, rúd, célpont pozíciója</a:t>
            </a:r>
          </a:p>
          <a:p>
            <a:pPr marL="285750" indent="-285750">
              <a:lnSpc>
                <a:spcPts val="22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500" dirty="0">
                <a:solidFill>
                  <a:srgbClr val="E8ECF4"/>
                </a:solidFill>
              </a:rPr>
              <a:t>Rúd forgási sebessége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F95BA-5AE6-47DA-A4C1-9E6FDFE80C14}"/>
              </a:ext>
            </a:extLst>
          </p:cNvPr>
          <p:cNvSpPr txBox="1"/>
          <p:nvPr/>
        </p:nvSpPr>
        <p:spPr>
          <a:xfrm>
            <a:off x="4572000" y="1841500"/>
            <a:ext cx="3683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7C3AED"/>
                </a:solidFill>
                <a:latin typeface="Segoe UI"/>
                <a:cs typeface="Segoe UI"/>
              </a:rPr>
              <a:t>Akciók — 6 folytonos érték</a:t>
            </a:r>
          </a:p>
        </p:txBody>
      </p:sp>
      <p:sp>
        <p:nvSpPr>
          <p:cNvPr id="6" name="Right">
            <a:extLst>
              <a:ext uri="{FF2B5EF4-FFF2-40B4-BE49-F238E27FC236}">
                <a16:creationId xmlns:a16="http://schemas.microsoft.com/office/drawing/2014/main" id="{437DEDB0-B0DE-47C5-8CB6-A7D3048FB039}"/>
              </a:ext>
            </a:extLst>
          </p:cNvPr>
          <p:cNvSpPr txBox="1"/>
          <p:nvPr/>
        </p:nvSpPr>
        <p:spPr>
          <a:xfrm>
            <a:off x="4572000" y="2349500"/>
            <a:ext cx="3683000" cy="12970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200"/>
              </a:lnSpc>
              <a:spcBef>
                <a:spcPts val="3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500" dirty="0">
                <a:solidFill>
                  <a:srgbClr val="E8ECF4"/>
                </a:solidFill>
              </a:rPr>
              <a:t>Forgatónyomaték minden ízületre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None/>
            </a:pPr>
            <a:r>
              <a:rPr lang="hu-HU" sz="1300" i="1" dirty="0">
                <a:solidFill>
                  <a:srgbClr val="C9D1E0"/>
                </a:solidFill>
              </a:rPr>
              <a:t>   értéktartomány: −1 … +1, skálázva 10-zel</a:t>
            </a:r>
          </a:p>
          <a:p>
            <a:pPr marL="285750" indent="-285750">
              <a:lnSpc>
                <a:spcPts val="2200"/>
              </a:lnSpc>
              <a:spcBef>
                <a:spcPts val="6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500" dirty="0">
                <a:solidFill>
                  <a:srgbClr val="E8ECF4"/>
                </a:solidFill>
              </a:rPr>
              <a:t>Folyamatos akciótér (Continuous)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buNone/>
            </a:pPr>
            <a:r>
              <a:rPr lang="hu-HU" sz="1300" i="1" dirty="0">
                <a:solidFill>
                  <a:srgbClr val="C9D1E0"/>
                </a:solidFill>
              </a:rPr>
              <a:t>   sima, finom mozgások — nem lépcsős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AFEED-1771-40A8-8DD6-8EBAE28D0F75}"/>
              </a:ext>
            </a:extLst>
          </p:cNvPr>
          <p:cNvSpPr/>
          <p:nvPr/>
        </p:nvSpPr>
        <p:spPr>
          <a:xfrm>
            <a:off x="4381500" y="1841500"/>
            <a:ext cx="25400" cy="4064000"/>
          </a:xfrm>
          <a:prstGeom prst="rect">
            <a:avLst/>
          </a:prstGeom>
          <a:solidFill>
            <a:srgbClr val="2A35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641EF6-C1B2-7F3D-BDE5-4261EC080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442" y="1841500"/>
            <a:ext cx="2632557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2C496-5DBA-0AEA-BA25-28135316B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Kar </a:t>
            </a:r>
            <a:r>
              <a:rPr lang="en-GB" dirty="0" err="1"/>
              <a:t>jutalmazása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ED1186-AD1F-45B6-9793-A0983BC06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805861"/>
              </p:ext>
            </p:extLst>
          </p:nvPr>
        </p:nvGraphicFramePr>
        <p:xfrm>
          <a:off x="1651000" y="1905000"/>
          <a:ext cx="8890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000">
                  <a:extLst>
                    <a:ext uri="{9D8B030D-6E8A-4147-A177-3AD203B41FA5}">
                      <a16:colId xmlns:a16="http://schemas.microsoft.com/office/drawing/2014/main" val="25705190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3264605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GB" sz="1600" b="1">
                          <a:solidFill>
                            <a:srgbClr val="0F1620"/>
                          </a:solidFill>
                          <a:latin typeface="Segoe UI"/>
                          <a:cs typeface="Segoe UI"/>
                        </a:rPr>
                        <a:t>Esemény</a:t>
                      </a:r>
                    </a:p>
                  </a:txBody>
                  <a:tcPr anchor="ctr"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0F1620"/>
                          </a:solidFill>
                          <a:latin typeface="Segoe UI"/>
                          <a:cs typeface="Segoe UI"/>
                        </a:rPr>
                        <a:t>Jutalom</a:t>
                      </a:r>
                    </a:p>
                  </a:txBody>
                  <a:tcPr anchor="ctr"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4322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GB" sz="1500" b="0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Cél elérése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+3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95758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GB" sz="1500" b="0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Lépés (időbüntetés)</a:t>
                      </a:r>
                    </a:p>
                  </a:txBody>
                  <a:tcPr anchor="ctr">
                    <a:solidFill>
                      <a:srgbClr val="222D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−2 / MaxStep</a:t>
                      </a:r>
                    </a:p>
                  </a:txBody>
                  <a:tcPr anchor="ctr">
                    <a:solidFill>
                      <a:srgbClr val="222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1641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GB" sz="1500" b="0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Közelítés a célhoz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+0,1 × Δtávolság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7728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GB" sz="1500" b="0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Falba/rúdba ütközés</a:t>
                      </a:r>
                    </a:p>
                  </a:txBody>
                  <a:tcPr anchor="ctr">
                    <a:solidFill>
                      <a:srgbClr val="222D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>
                          <a:solidFill>
                            <a:srgbClr val="E8ECF4"/>
                          </a:solidFill>
                          <a:latin typeface="Segoe UI"/>
                          <a:cs typeface="Segoe UI"/>
                        </a:rPr>
                        <a:t>−0,2</a:t>
                      </a:r>
                    </a:p>
                  </a:txBody>
                  <a:tcPr anchor="ctr">
                    <a:solidFill>
                      <a:srgbClr val="222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2977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82FC35-A615-413D-9448-A49260E71807}"/>
              </a:ext>
            </a:extLst>
          </p:cNvPr>
          <p:cNvSpPr txBox="1"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1600" i="1">
                <a:solidFill>
                  <a:srgbClr val="F59E0B"/>
                </a:solidFill>
                <a:latin typeface="Segoe UI"/>
                <a:cs typeface="Segoe UI"/>
              </a:rPr>
              <a:t>A jutalmak finomhangolása volt az egyik legtöbb idő igénylő rész.</a:t>
            </a:r>
          </a:p>
        </p:txBody>
      </p:sp>
    </p:spTree>
    <p:extLst>
      <p:ext uri="{BB962C8B-B14F-4D97-AF65-F5344CB8AC3E}">
        <p14:creationId xmlns:p14="http://schemas.microsoft.com/office/powerpoint/2010/main" val="408676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CFD7-2634-DE92-C271-FEDBAB29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lényeg</a:t>
            </a:r>
            <a:r>
              <a:rPr lang="en-GB" dirty="0"/>
              <a:t> </a:t>
            </a:r>
            <a:r>
              <a:rPr lang="en-GB" dirty="0" err="1"/>
              <a:t>kódban</a:t>
            </a:r>
            <a:r>
              <a:rPr lang="en-GB" dirty="0"/>
              <a:t> — </a:t>
            </a:r>
            <a:r>
              <a:rPr lang="en-GB" dirty="0" err="1"/>
              <a:t>OnActionReceived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EDD2C2-B761-4EF8-B0AA-C92AE1A2F8ED}"/>
              </a:ext>
            </a:extLst>
          </p:cNvPr>
          <p:cNvSpPr/>
          <p:nvPr/>
        </p:nvSpPr>
        <p:spPr>
          <a:xfrm>
            <a:off x="508000" y="1778000"/>
            <a:ext cx="11176000" cy="4826000"/>
          </a:xfrm>
          <a:prstGeom prst="rect">
            <a:avLst/>
          </a:prstGeom>
          <a:solidFill>
            <a:srgbClr val="0A0E15"/>
          </a:solidFill>
          <a:ln w="12700" cap="flat" cmpd="sng" algn="ctr">
            <a:solidFill>
              <a:srgbClr val="2A35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CodeBox">
            <a:extLst>
              <a:ext uri="{FF2B5EF4-FFF2-40B4-BE49-F238E27FC236}">
                <a16:creationId xmlns:a16="http://schemas.microsoft.com/office/drawing/2014/main" id="{D3EC6541-32D3-4EA3-BB9A-C18DBD5CB87D}"/>
              </a:ext>
            </a:extLst>
          </p:cNvPr>
          <p:cNvSpPr txBox="1"/>
          <p:nvPr/>
        </p:nvSpPr>
        <p:spPr>
          <a:xfrm>
            <a:off x="762000" y="1968500"/>
            <a:ext cx="10668000" cy="4445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/>
                <a:cs typeface="Consolas"/>
              </a:rPr>
              <a:t>public override void 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OnActionReceived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/>
                <a:cs typeface="Consolas"/>
              </a:rPr>
              <a:t>ActionBuffers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actions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{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6A9955"/>
                </a:solidFill>
                <a:latin typeface="Consolas"/>
                <a:cs typeface="Consolas"/>
              </a:rPr>
              <a:t>// Forgatónyomaték minden ízületre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569CD6"/>
                </a:solidFill>
                <a:latin typeface="Consolas"/>
                <a:cs typeface="Consolas"/>
              </a:rPr>
              <a:t>var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torque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lang="en-US" sz="1400" dirty="0">
                <a:solidFill>
                  <a:srgbClr val="4EC9B0"/>
                </a:solidFill>
                <a:latin typeface="Consolas"/>
                <a:cs typeface="Consolas"/>
              </a:rPr>
              <a:t>Mathf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Clamp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actions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ContinuousActions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[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0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], 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-1f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1f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 * 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10f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m_RbA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AddTorque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569CD6"/>
                </a:solidFill>
                <a:latin typeface="Consolas"/>
                <a:cs typeface="Consolas"/>
              </a:rPr>
              <a:t>new </a:t>
            </a:r>
            <a:r>
              <a:rPr lang="en-US" sz="1400" dirty="0">
                <a:solidFill>
                  <a:srgbClr val="4EC9B0"/>
                </a:solidFill>
                <a:latin typeface="Consolas"/>
                <a:cs typeface="Consolas"/>
              </a:rPr>
              <a:t>Vector3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0f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,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torque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, 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0f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));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6A9955"/>
                </a:solidFill>
                <a:latin typeface="Consolas"/>
                <a:cs typeface="Consolas"/>
              </a:rPr>
              <a:t>// ... a többi 5 ízület hasonlóan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6A9955"/>
                </a:solidFill>
                <a:latin typeface="Consolas"/>
                <a:cs typeface="Consolas"/>
              </a:rPr>
              <a:t>// Jutalom: közeledés + lépésbüntetés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569CD6"/>
                </a:solidFill>
                <a:latin typeface="Consolas"/>
                <a:cs typeface="Consolas"/>
              </a:rPr>
              <a:t>float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currentDistance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lang="en-US" sz="1400" dirty="0">
                <a:solidFill>
                  <a:srgbClr val="4EC9B0"/>
                </a:solidFill>
                <a:latin typeface="Consolas"/>
                <a:cs typeface="Consolas"/>
              </a:rPr>
              <a:t>Vector3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Distance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_goal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position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,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                                        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hand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transform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.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position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DeltaReward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_previousDistance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-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currentDistance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_previousDistance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=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currentDistance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AddReward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DeltaReward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* 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0.1f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    </a:t>
            </a:r>
            <a:r>
              <a:rPr lang="en-US" sz="1400" dirty="0">
                <a:solidFill>
                  <a:srgbClr val="DCDCAA"/>
                </a:solidFill>
                <a:latin typeface="Consolas"/>
                <a:cs typeface="Consolas"/>
              </a:rPr>
              <a:t>AddReward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onsolas"/>
                <a:cs typeface="Consolas"/>
              </a:rPr>
              <a:t>-2f 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/ </a:t>
            </a:r>
            <a:r>
              <a:rPr lang="en-US" sz="1400" dirty="0">
                <a:solidFill>
                  <a:srgbClr val="9CDCFE"/>
                </a:solidFill>
                <a:latin typeface="Consolas"/>
                <a:cs typeface="Consolas"/>
              </a:rPr>
              <a:t>MaxStep</a:t>
            </a: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);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030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479FA-9435-6368-1CE5-0DB2D3CC4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 err="1"/>
              <a:t>tanítás</a:t>
            </a:r>
            <a:r>
              <a:rPr lang="en-GB" dirty="0"/>
              <a:t> </a:t>
            </a:r>
            <a:r>
              <a:rPr lang="en-GB" dirty="0" err="1"/>
              <a:t>folyamata</a:t>
            </a:r>
            <a:endParaRPr lang="en-GB" dirty="0"/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ECA93455-23C2-4540-9272-C0FC43AD2FD9}"/>
              </a:ext>
            </a:extLst>
          </p:cNvPr>
          <p:cNvSpPr txBox="1"/>
          <p:nvPr/>
        </p:nvSpPr>
        <p:spPr>
          <a:xfrm>
            <a:off x="635000" y="1905000"/>
            <a:ext cx="7620000" cy="457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ML-Agents release_23 + Python (Conda env)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PPO algoritmus, 128 rejtett egység × 2 réteg, normalize: true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16 millió lépés (max_steps: 16 000 000)</a:t>
            </a:r>
          </a:p>
          <a:p>
            <a:pPr marL="285750" indent="-285750">
              <a:lnSpc>
                <a:spcPts val="2400"/>
              </a:lnSpc>
              <a:spcBef>
                <a:spcPts val="3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700" dirty="0">
                <a:solidFill>
                  <a:srgbClr val="E8ECF4"/>
                </a:solidFill>
              </a:rPr>
              <a:t>Parancs: </a:t>
            </a:r>
            <a:r>
              <a:rPr lang="en-US" sz="1500" dirty="0">
                <a:solidFill>
                  <a:srgbClr val="DCDCAA"/>
                </a:solidFill>
                <a:latin typeface="Consolas"/>
                <a:cs typeface="Consolas"/>
              </a:rPr>
              <a:t>mlagents-learn config/RobotReacher.yaml --run-id=projekt02 --torch-device=cpu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D92FC-4E1F-7030-F065-82CEAE108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148" y="1905000"/>
            <a:ext cx="315285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8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Szoftverkörnyezet</a:t>
            </a:r>
          </a:p>
        </p:txBody>
      </p:sp>
      <p:sp>
        <p:nvSpPr>
          <p:cNvPr id="3" name="LeftHeader"/>
          <p:cNvSpPr txBox="1"/>
          <p:nvPr/>
        </p:nvSpPr>
        <p:spPr>
          <a:xfrm>
            <a:off x="635000" y="1841500"/>
            <a:ext cx="533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 dirty="0">
                <a:solidFill>
                  <a:srgbClr val="00D4FF"/>
                </a:solidFill>
                <a:latin typeface="Segoe UI"/>
                <a:cs typeface="Segoe UI"/>
              </a:rPr>
              <a:t>Unity + ML-Agents</a:t>
            </a:r>
          </a:p>
        </p:txBody>
      </p:sp>
      <p:sp>
        <p:nvSpPr>
          <p:cNvPr id="4" name="LeftBullets"/>
          <p:cNvSpPr txBox="1"/>
          <p:nvPr/>
        </p:nvSpPr>
        <p:spPr>
          <a:xfrm>
            <a:off x="635000" y="2413000"/>
            <a:ext cx="5334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Unity 6000.0.x (6000.4.0f1)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en-US" sz="1600" dirty="0">
                <a:solidFill>
                  <a:srgbClr val="E8ECF4"/>
                </a:solidFill>
              </a:rPr>
              <a:t>ML-Agents package: </a:t>
            </a:r>
            <a:r>
              <a:rPr lang="en-US" sz="1500" dirty="0">
                <a:solidFill>
                  <a:srgbClr val="DCDCAA"/>
                </a:solidFill>
                <a:latin typeface="Consolas"/>
                <a:cs typeface="Consolas"/>
              </a:rPr>
              <a:t>release_23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GitHub-ról telepítve a Package Managerben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00D4FF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TensorBoard — tanulási görbe figyelése</a:t>
            </a:r>
          </a:p>
        </p:txBody>
      </p:sp>
      <p:sp>
        <p:nvSpPr>
          <p:cNvPr id="5" name="Divider"/>
          <p:cNvSpPr/>
          <p:nvPr/>
        </p:nvSpPr>
        <p:spPr>
          <a:xfrm>
            <a:off x="6096000" y="1841500"/>
            <a:ext cx="25400" cy="4445000"/>
          </a:xfrm>
          <a:prstGeom prst="rect">
            <a:avLst/>
          </a:prstGeom>
          <a:solidFill>
            <a:srgbClr val="2A354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6" name="RightHeader"/>
          <p:cNvSpPr txBox="1"/>
          <p:nvPr/>
        </p:nvSpPr>
        <p:spPr>
          <a:xfrm>
            <a:off x="6350000" y="1841500"/>
            <a:ext cx="533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 dirty="0">
                <a:solidFill>
                  <a:srgbClr val="7C3AED"/>
                </a:solidFill>
                <a:latin typeface="Segoe UI"/>
                <a:cs typeface="Segoe UI"/>
              </a:rPr>
              <a:t>Python / Conda</a:t>
            </a:r>
          </a:p>
        </p:txBody>
      </p:sp>
      <p:sp>
        <p:nvSpPr>
          <p:cNvPr id="7" name="RightBullets"/>
          <p:cNvSpPr txBox="1"/>
          <p:nvPr/>
        </p:nvSpPr>
        <p:spPr>
          <a:xfrm>
            <a:off x="6350000" y="2413000"/>
            <a:ext cx="5334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Miniconda + Python 3.10.12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Conda környezet: </a:t>
            </a:r>
            <a:r>
              <a:rPr lang="en-US" sz="1500" dirty="0">
                <a:solidFill>
                  <a:srgbClr val="DCDCAA"/>
                </a:solidFill>
                <a:latin typeface="Consolas"/>
                <a:cs typeface="Consolas"/>
              </a:rPr>
              <a:t>mlagents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setuptools==69.5.1 (verziókompatibilitás)</a:t>
            </a:r>
          </a:p>
          <a:p>
            <a:pPr marL="285750" indent="-285750">
              <a:lnSpc>
                <a:spcPts val="2400"/>
              </a:lnSpc>
              <a:spcBef>
                <a:spcPts val="400"/>
              </a:spcBef>
              <a:buClr>
                <a:srgbClr val="7C3AED"/>
              </a:buClr>
              <a:buFont typeface="Arial"/>
              <a:buChar char="▸"/>
            </a:pPr>
            <a:r>
              <a:rPr lang="hu-HU" sz="1600" dirty="0">
                <a:solidFill>
                  <a:srgbClr val="E8ECF4"/>
                </a:solidFill>
              </a:rPr>
              <a:t>PyTorch (CUDA beépítve, külön nem kell)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86D15-D5CB-E320-510D-28EF6EA8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Eredmények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4323D5-02F2-425D-8685-F0C6E3DAA198}"/>
              </a:ext>
            </a:extLst>
          </p:cNvPr>
          <p:cNvSpPr/>
          <p:nvPr/>
        </p:nvSpPr>
        <p:spPr>
          <a:xfrm>
            <a:off x="635000" y="2032000"/>
            <a:ext cx="7366000" cy="1651000"/>
          </a:xfrm>
          <a:prstGeom prst="roundRect">
            <a:avLst/>
          </a:prstGeom>
          <a:solidFill>
            <a:srgbClr val="1A2332"/>
          </a:solidFill>
          <a:ln w="19050" cap="flat" cmpd="sng" algn="ctr">
            <a:solidFill>
              <a:srgbClr val="10B98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77A1E-3EE8-4D74-8B5C-9D4CA291AAE7}"/>
              </a:ext>
            </a:extLst>
          </p:cNvPr>
          <p:cNvSpPr txBox="1"/>
          <p:nvPr/>
        </p:nvSpPr>
        <p:spPr>
          <a:xfrm>
            <a:off x="889000" y="22098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C9D1E0"/>
                </a:solidFill>
                <a:latin typeface="Segoe UI"/>
                <a:cs typeface="Segoe UI"/>
              </a:rPr>
              <a:t>Átlag jutalom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8D10C-8978-4607-94F4-4353EE4EA092}"/>
              </a:ext>
            </a:extLst>
          </p:cNvPr>
          <p:cNvSpPr txBox="1"/>
          <p:nvPr/>
        </p:nvSpPr>
        <p:spPr>
          <a:xfrm>
            <a:off x="889000" y="2667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800" b="1">
                <a:solidFill>
                  <a:srgbClr val="10B981"/>
                </a:solidFill>
                <a:latin typeface="Segoe UI"/>
                <a:cs typeface="Segoe UI"/>
              </a:rPr>
              <a:t>−2,7 (random)  →  +1,0+ (tanult)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E81736-9638-4556-BE4A-F1D34A3F227A}"/>
              </a:ext>
            </a:extLst>
          </p:cNvPr>
          <p:cNvSpPr/>
          <p:nvPr/>
        </p:nvSpPr>
        <p:spPr>
          <a:xfrm>
            <a:off x="635000" y="4064000"/>
            <a:ext cx="7366000" cy="1651000"/>
          </a:xfrm>
          <a:prstGeom prst="roundRect">
            <a:avLst/>
          </a:prstGeom>
          <a:solidFill>
            <a:srgbClr val="1A2332"/>
          </a:solidFill>
          <a:ln w="19050" cap="flat" cmpd="sng" algn="ctr">
            <a:solidFill>
              <a:srgbClr val="00D4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E7520-02DE-44AA-9556-E2B4878FB6FE}"/>
              </a:ext>
            </a:extLst>
          </p:cNvPr>
          <p:cNvSpPr txBox="1"/>
          <p:nvPr/>
        </p:nvSpPr>
        <p:spPr>
          <a:xfrm>
            <a:off x="889000" y="42418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b="1">
                <a:solidFill>
                  <a:srgbClr val="C9D1E0"/>
                </a:solidFill>
                <a:latin typeface="Segoe UI"/>
                <a:cs typeface="Segoe UI"/>
              </a:rPr>
              <a:t>Epizód hossz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86E6EE-E0C2-4C6F-8B18-A77BC0C9A452}"/>
              </a:ext>
            </a:extLst>
          </p:cNvPr>
          <p:cNvSpPr txBox="1"/>
          <p:nvPr/>
        </p:nvSpPr>
        <p:spPr>
          <a:xfrm>
            <a:off x="889000" y="46990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800" b="1">
                <a:solidFill>
                  <a:srgbClr val="00D4FF"/>
                </a:solidFill>
                <a:latin typeface="Segoe UI"/>
                <a:cs typeface="Segoe UI"/>
              </a:rPr>
              <a:t>450 lépés  →  ~250 lépés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7503D7-8FC2-16F8-A26C-7DEED0C55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680" y="1778000"/>
            <a:ext cx="3014319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1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8345-5957-DB32-3A50-3A707566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Működés közben</a:t>
            </a:r>
            <a:endParaRPr lang="en-GB"/>
          </a:p>
        </p:txBody>
      </p:sp>
      <p:pic>
        <p:nvPicPr>
          <p:cNvPr id="7" name="Projekt">
            <a:hlinkClick r:id="" action="ppaction://media"/>
            <a:extLst>
              <a:ext uri="{FF2B5EF4-FFF2-40B4-BE49-F238E27FC236}">
                <a16:creationId xmlns:a16="http://schemas.microsoft.com/office/drawing/2014/main" id="{B1D9CC34-C0B5-F3E8-A404-207B302CBA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1949" y="1905000"/>
            <a:ext cx="812810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6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0801-CFE1-A6BD-078D-885C140C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Amibe</a:t>
            </a:r>
            <a:r>
              <a:rPr lang="en-GB" dirty="0"/>
              <a:t> </a:t>
            </a:r>
            <a:r>
              <a:rPr lang="en-GB" dirty="0" err="1"/>
              <a:t>belefutottam</a:t>
            </a:r>
            <a:endParaRPr lang="en-GB" dirty="0"/>
          </a:p>
        </p:txBody>
      </p:sp>
      <p:sp>
        <p:nvSpPr>
          <p:cNvPr id="3" name="List">
            <a:extLst>
              <a:ext uri="{FF2B5EF4-FFF2-40B4-BE49-F238E27FC236}">
                <a16:creationId xmlns:a16="http://schemas.microsoft.com/office/drawing/2014/main" id="{AC262A82-7106-4B47-98FF-19D7EB7005E0}"/>
              </a:ext>
            </a:extLst>
          </p:cNvPr>
          <p:cNvSpPr txBox="1"/>
          <p:nvPr/>
        </p:nvSpPr>
        <p:spPr>
          <a:xfrm>
            <a:off x="635000" y="1905000"/>
            <a:ext cx="11049000" cy="22193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hu-HU" sz="1700" b="1" dirty="0">
                <a:solidFill>
                  <a:srgbClr val="00D4FF"/>
                </a:solidFill>
              </a:rPr>
              <a:t>1. Tunneling</a:t>
            </a:r>
            <a:r>
              <a:rPr lang="hu-HU" sz="1500" dirty="0">
                <a:solidFill>
                  <a:srgbClr val="E8ECF4"/>
                </a:solidFill>
              </a:rPr>
              <a:t> — a kar átszaladt a falon </a:t>
            </a:r>
            <a:r>
              <a:rPr lang="hu-HU" sz="1500" b="1" dirty="0">
                <a:solidFill>
                  <a:srgbClr val="10B981"/>
                </a:solidFill>
              </a:rPr>
              <a:t>→ vastagabb fal + Continuous Collision Detection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hu-HU" sz="1700" b="1" dirty="0">
                <a:solidFill>
                  <a:srgbClr val="00D4FF"/>
                </a:solidFill>
              </a:rPr>
              <a:t>2. Koordinátarendszer-hiba</a:t>
            </a:r>
            <a:r>
              <a:rPr lang="hu-HU" sz="1500" dirty="0">
                <a:solidFill>
                  <a:srgbClr val="E8ECF4"/>
                </a:solidFill>
              </a:rPr>
              <a:t> — a kéz pozíciója rossz referenciakeretben volt </a:t>
            </a:r>
            <a:r>
              <a:rPr lang="hu-HU" sz="1500" b="1" dirty="0">
                <a:solidFill>
                  <a:srgbClr val="10B981"/>
                </a:solidFill>
              </a:rPr>
              <a:t>→ ágens-relatív koordináták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GB" sz="1700" b="1" dirty="0">
                <a:solidFill>
                  <a:srgbClr val="00D4FF"/>
                </a:solidFill>
              </a:rPr>
              <a:t>3</a:t>
            </a:r>
            <a:r>
              <a:rPr lang="hu-HU" sz="1700" b="1" dirty="0">
                <a:solidFill>
                  <a:srgbClr val="00D4FF"/>
                </a:solidFill>
              </a:rPr>
              <a:t>. Ízületi korlátok</a:t>
            </a:r>
            <a:r>
              <a:rPr lang="hu-HU" sz="1500" dirty="0">
                <a:solidFill>
                  <a:srgbClr val="E8ECF4"/>
                </a:solidFill>
              </a:rPr>
              <a:t> — egyes célpontok fizikailag elérhetetlenek </a:t>
            </a:r>
            <a:r>
              <a:rPr lang="hu-HU" sz="1500" b="1" dirty="0">
                <a:solidFill>
                  <a:srgbClr val="10B981"/>
                </a:solidFill>
              </a:rPr>
              <a:t>→ célpont spawnolási tartomány szűkítése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GB" sz="1700" b="1" dirty="0">
                <a:solidFill>
                  <a:srgbClr val="00D4FF"/>
                </a:solidFill>
              </a:rPr>
              <a:t>4</a:t>
            </a:r>
            <a:r>
              <a:rPr lang="hu-HU" sz="1700" b="1" dirty="0">
                <a:solidFill>
                  <a:srgbClr val="00D4FF"/>
                </a:solidFill>
              </a:rPr>
              <a:t>. CUDA eszközkonfliktus</a:t>
            </a:r>
            <a:r>
              <a:rPr lang="hu-HU" sz="1500" dirty="0">
                <a:solidFill>
                  <a:srgbClr val="E8ECF4"/>
                </a:solidFill>
              </a:rPr>
              <a:t> — normalize: true + GPU mismatch az ML-Agents release_23-ban </a:t>
            </a:r>
            <a:r>
              <a:rPr lang="en-US" sz="1500" b="1" dirty="0">
                <a:solidFill>
                  <a:srgbClr val="10B981"/>
                </a:solidFill>
                <a:latin typeface="Consolas"/>
                <a:cs typeface="Consolas"/>
              </a:rPr>
              <a:t>→ --torch-device=cpu</a:t>
            </a:r>
          </a:p>
          <a:p>
            <a:pPr marL="0" indent="0">
              <a:lnSpc>
                <a:spcPts val="2400"/>
              </a:lnSpc>
              <a:spcBef>
                <a:spcPts val="600"/>
              </a:spcBef>
              <a:buNone/>
            </a:pPr>
            <a:r>
              <a:rPr lang="en-GB" sz="1700" b="1" dirty="0">
                <a:solidFill>
                  <a:srgbClr val="00D4FF"/>
                </a:solidFill>
              </a:rPr>
              <a:t>5</a:t>
            </a:r>
            <a:r>
              <a:rPr lang="hu-HU" sz="1700" b="1" dirty="0">
                <a:solidFill>
                  <a:srgbClr val="00D4FF"/>
                </a:solidFill>
              </a:rPr>
              <a:t>. setuptools verziókonfliktus</a:t>
            </a:r>
            <a:r>
              <a:rPr lang="hu-HU" sz="1500" dirty="0">
                <a:solidFill>
                  <a:srgbClr val="E8ECF4"/>
                </a:solidFill>
              </a:rPr>
              <a:t> — az mlagents pip telepítése meghiúsult </a:t>
            </a:r>
            <a:r>
              <a:rPr lang="en-US" sz="1500" b="1" dirty="0">
                <a:solidFill>
                  <a:srgbClr val="10B981"/>
                </a:solidFill>
                <a:latin typeface="Consolas"/>
                <a:cs typeface="Consolas"/>
              </a:rPr>
              <a:t>→ pip install setuptools==69.5.1 --force-reinstall</a:t>
            </a:r>
          </a:p>
        </p:txBody>
      </p:sp>
    </p:spTree>
    <p:extLst>
      <p:ext uri="{BB962C8B-B14F-4D97-AF65-F5344CB8AC3E}">
        <p14:creationId xmlns:p14="http://schemas.microsoft.com/office/powerpoint/2010/main" val="71666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2AF555-E9F3-490E-B396-5DD8643F1B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b" anchorCtr="0"/>
          <a:lstStyle/>
          <a:p>
            <a:pPr algn="l"/>
            <a:endParaRPr lang="en-GB" sz="1100" i="1">
              <a:solidFill>
                <a:srgbClr val="3D4A5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237C5-960F-4556-B2AB-4526CA173968}"/>
              </a:ext>
            </a:extLst>
          </p:cNvPr>
          <p:cNvSpPr txBox="1"/>
          <p:nvPr/>
        </p:nvSpPr>
        <p:spPr>
          <a:xfrm>
            <a:off x="762000" y="2540000"/>
            <a:ext cx="10668000" cy="1270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GB" sz="5400" b="1">
                <a:solidFill>
                  <a:srgbClr val="FFFFFF"/>
                </a:solidFill>
                <a:latin typeface="Segoe UI"/>
                <a:cs typeface="Segoe UI"/>
              </a:rPr>
              <a:t>Köszönöm a figyelmet!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434F3-62F8-4684-A933-3D98204FB991}"/>
              </a:ext>
            </a:extLst>
          </p:cNvPr>
          <p:cNvSpPr/>
          <p:nvPr/>
        </p:nvSpPr>
        <p:spPr>
          <a:xfrm>
            <a:off x="4826000" y="3873500"/>
            <a:ext cx="2540000" cy="50800"/>
          </a:xfrm>
          <a:prstGeom prst="rect">
            <a:avLst/>
          </a:prstGeom>
          <a:solidFill>
            <a:srgbClr val="00D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509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491650090]">
  <a:themeElements>
    <a:clrScheme name="Office">
      <a:dk1>
        <a:srgbClr val="E8ECF4"/>
      </a:dk1>
      <a:lt1>
        <a:srgbClr val="0F1620"/>
      </a:lt1>
      <a:dk2>
        <a:srgbClr val="1A2332"/>
      </a:dk2>
      <a:lt2>
        <a:srgbClr val="C9D1E0"/>
      </a:lt2>
      <a:accent1>
        <a:srgbClr val="00D4FF"/>
      </a:accent1>
      <a:accent2>
        <a:srgbClr val="7C3AED"/>
      </a:accent2>
      <a:accent3>
        <a:srgbClr val="10B981"/>
      </a:accent3>
      <a:accent4>
        <a:srgbClr val="F59E0B"/>
      </a:accent4>
      <a:accent5>
        <a:srgbClr val="EF4444"/>
      </a:accent5>
      <a:accent6>
        <a:srgbClr val="3B82F6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08114F-E292-4A26-A40C-461D065806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2f984418-15a1-406a-b8b4-7fec086a0f2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549</Words>
  <Application>Microsoft Office PowerPoint</Application>
  <PresentationFormat>Widescreen</PresentationFormat>
  <Paragraphs>92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Consolas</vt:lpstr>
      <vt:lpstr>Segoe UI</vt:lpstr>
      <vt:lpstr>Office Theme [1777491650090]</vt:lpstr>
      <vt:lpstr>Robotkar tanítása mély megerősítéses tanulással</vt:lpstr>
      <vt:lpstr>A projekt feladata</vt:lpstr>
      <vt:lpstr>Források</vt:lpstr>
      <vt:lpstr>A környezet</vt:lpstr>
      <vt:lpstr>Párhuzamos tanítás — gyorsabb tanulás</vt:lpstr>
      <vt:lpstr>Mit lát és mit tesz az ágens</vt:lpstr>
      <vt:lpstr>Kar jutalmazása</vt:lpstr>
      <vt:lpstr>A lényeg kódban — OnActionReceived</vt:lpstr>
      <vt:lpstr>A tanítás folyamata</vt:lpstr>
      <vt:lpstr>Szoftverkörnyezet</vt:lpstr>
      <vt:lpstr>Eredmények</vt:lpstr>
      <vt:lpstr>Működés közben</vt:lpstr>
      <vt:lpstr>Amibe belefutottam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Juhász Dávid</dc:creator>
  <cp:lastModifiedBy>Juhász Dávid</cp:lastModifiedBy>
  <cp:revision>4</cp:revision>
  <dcterms:created xsi:type="dcterms:W3CDTF">2026-04-29T19:40:49Z</dcterms:created>
  <dcterms:modified xsi:type="dcterms:W3CDTF">2026-05-20T20:29:23Z</dcterms:modified>
</cp:coreProperties>
</file>